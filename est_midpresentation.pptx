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82" r:id="rId24"/>
    <p:sldId id="283" r:id="rId25"/>
    <p:sldId id="284" r:id="rId26"/>
    <p:sldId id="276" r:id="rId27"/>
    <p:sldId id="277" r:id="rId28"/>
    <p:sldId id="278" r:id="rId29"/>
    <p:sldId id="279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A59E6-E02E-4E1E-A46F-50FD4C4591C6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B3E2D-1803-4E8D-8EF4-EEBABA754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6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3E2D-1803-4E8D-8EF4-EEBABA754B6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58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3E2D-1803-4E8D-8EF4-EEBABA754B6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90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320751"/>
            <a:ext cx="8747760" cy="922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1980" y="1365250"/>
            <a:ext cx="10866120" cy="351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10999273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619483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07/s11442-019-1650-x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abs/10.1002/ece3.73884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abs/10.1111/geb.70177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5876" y="1030604"/>
            <a:ext cx="10582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Palaeoclimate</a:t>
            </a:r>
            <a:r>
              <a:rPr sz="4000" spc="-135" dirty="0"/>
              <a:t> </a:t>
            </a:r>
            <a:r>
              <a:rPr sz="4000" dirty="0"/>
              <a:t>Stability</a:t>
            </a:r>
            <a:r>
              <a:rPr sz="4000" spc="-140" dirty="0"/>
              <a:t> </a:t>
            </a:r>
            <a:r>
              <a:rPr sz="4000" dirty="0"/>
              <a:t>and</a:t>
            </a:r>
            <a:r>
              <a:rPr sz="4000" spc="-145" dirty="0"/>
              <a:t> </a:t>
            </a:r>
            <a:r>
              <a:rPr sz="4000" dirty="0"/>
              <a:t>Modern</a:t>
            </a:r>
            <a:r>
              <a:rPr sz="4000" spc="-145" dirty="0"/>
              <a:t> </a:t>
            </a:r>
            <a:r>
              <a:rPr sz="4000" spc="-10" dirty="0"/>
              <a:t>Biodiversity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1596" y="2769870"/>
            <a:ext cx="3378835" cy="2386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" dirty="0">
                <a:latin typeface="Times New Roman"/>
                <a:cs typeface="Times New Roman"/>
              </a:rPr>
              <a:t>Team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ERPB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32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Mani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Bhavana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(2024101053)</a:t>
            </a:r>
            <a:endParaRPr sz="22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Charishma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(2024101097)</a:t>
            </a:r>
            <a:endParaRPr sz="22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Mokshitha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(2024101059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5"/>
              </a:spcBef>
            </a:pPr>
            <a:r>
              <a:rPr sz="2200" spc="-30" dirty="0">
                <a:latin typeface="Times New Roman"/>
                <a:cs typeface="Times New Roman"/>
              </a:rPr>
              <a:t>Veekshita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(2024102026)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80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Problem</a:t>
            </a:r>
            <a:r>
              <a:rPr sz="3000" spc="-155" dirty="0"/>
              <a:t> </a:t>
            </a:r>
            <a:r>
              <a:rPr sz="3000" spc="-10" dirty="0"/>
              <a:t>Statement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02919" y="1491233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7380" y="1949322"/>
            <a:ext cx="10812780" cy="3155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present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biodiversity-</a:t>
            </a:r>
            <a:r>
              <a:rPr sz="2400" b="1" dirty="0">
                <a:latin typeface="Times New Roman"/>
                <a:cs typeface="Times New Roman"/>
              </a:rPr>
              <a:t>rich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regions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disproportionately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associated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long-</a:t>
            </a:r>
            <a:r>
              <a:rPr sz="2400" b="1" spc="-20" dirty="0">
                <a:latin typeface="Times New Roman"/>
                <a:cs typeface="Times New Roman"/>
              </a:rPr>
              <a:t>term </a:t>
            </a:r>
            <a:r>
              <a:rPr sz="2400" b="1" dirty="0">
                <a:latin typeface="Times New Roman"/>
                <a:cs typeface="Times New Roman"/>
              </a:rPr>
              <a:t>climatic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stability?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Biodiversity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unevenly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across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explanation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greater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long-term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climatic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 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persist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diversify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investigates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biodiversity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rich </a:t>
            </a:r>
            <a:r>
              <a:rPr sz="2400" dirty="0">
                <a:latin typeface="Times New Roman"/>
                <a:cs typeface="Times New Roman"/>
              </a:rPr>
              <a:t>regions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disproportionately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associated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climate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conditions</a:t>
            </a:r>
            <a:r>
              <a:rPr sz="2400" spc="-25" dirty="0">
                <a:latin typeface="Times New Roman"/>
                <a:cs typeface="Times New Roman"/>
              </a:rPr>
              <a:t> by </a:t>
            </a:r>
            <a:r>
              <a:rPr sz="2400" dirty="0">
                <a:latin typeface="Times New Roman"/>
                <a:cs typeface="Times New Roman"/>
              </a:rPr>
              <a:t>comparing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palaeoclimate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richness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records.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Objectives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445412"/>
            <a:ext cx="10269220" cy="40906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Font typeface="Arial" panose="020B0604020202020204" pitchFamily="34" charset="0"/>
              <a:buChar char="•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Measure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modern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GBIF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occurrence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records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 </a:t>
            </a:r>
            <a:r>
              <a:rPr sz="2200" spc="-10" dirty="0">
                <a:latin typeface="Times New Roman"/>
                <a:cs typeface="Times New Roman"/>
              </a:rPr>
              <a:t>grid.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Measure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climatic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stability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Glacial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Maximum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(LGM)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PaleoClim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1745614" algn="l"/>
              </a:tabLst>
            </a:pPr>
            <a:r>
              <a:rPr sz="2200" spc="-10" dirty="0">
                <a:latin typeface="Times New Roman"/>
                <a:cs typeface="Times New Roman"/>
              </a:rPr>
              <a:t>WorldClim</a:t>
            </a:r>
            <a:r>
              <a:rPr sz="2200" dirty="0">
                <a:latin typeface="Times New Roman"/>
                <a:cs typeface="Times New Roman"/>
              </a:rPr>
              <a:t>	temperature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layers.</a:t>
            </a:r>
            <a:endParaRPr sz="2200" dirty="0">
              <a:latin typeface="Times New Roman"/>
              <a:cs typeface="Times New Roman"/>
            </a:endParaRPr>
          </a:p>
          <a:p>
            <a:pPr marL="355600" marR="127000" indent="-34290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355600" algn="l"/>
                <a:tab pos="421005" algn="l"/>
              </a:tabLst>
            </a:pPr>
            <a:r>
              <a:rPr sz="2200" dirty="0">
                <a:latin typeface="Arial"/>
                <a:cs typeface="Arial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Test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stability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related,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controlling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sampling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spc="-10" dirty="0">
                <a:latin typeface="Times New Roman"/>
                <a:cs typeface="Times New Roman"/>
              </a:rPr>
              <a:t>latitude.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Check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palaeoclimate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agree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other.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(possible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refugia)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not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stable.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Check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robust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grid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(2°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5°).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Remaining: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precipitation,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IUCN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Copernicus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DEM.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Data </a:t>
            </a:r>
            <a:r>
              <a:rPr sz="3000" spc="-10" dirty="0"/>
              <a:t>Given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0080" y="1365250"/>
          <a:ext cx="10880089" cy="339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5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5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Resolution</a:t>
                      </a:r>
                      <a:r>
                        <a:rPr sz="15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 size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PaleoClim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(mean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annual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temperature):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Current,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Holocene,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7630"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LGM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5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rasters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palaeoclimate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BIO1: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Present,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Mid-Holocene,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(CCSM4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simulation)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5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rasters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GBIF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45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occurrence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(speciesKey,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latitude,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longitude)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18,000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raw,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17,396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clean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records,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6,080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species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IUCN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maps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Planned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Copernicus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DEM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Elevation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(proxy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refugia)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Planned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3100" y="5028245"/>
            <a:ext cx="9857740" cy="7156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894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Times New Roman"/>
                <a:cs typeface="Times New Roman"/>
              </a:rPr>
              <a:t>BIO1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WorldClim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 annual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temperature.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Rasters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°C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10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converted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°C.</a:t>
            </a:r>
            <a:endParaRPr sz="160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spcBef>
                <a:spcPts val="795"/>
              </a:spcBef>
              <a:buChar char="•"/>
              <a:tabLst>
                <a:tab pos="18097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GBIF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download,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full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GBIF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archive,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mix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taxonomic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Data:</a:t>
            </a:r>
            <a:r>
              <a:rPr sz="3000" spc="-55" dirty="0"/>
              <a:t> </a:t>
            </a:r>
            <a:r>
              <a:rPr sz="3000" dirty="0"/>
              <a:t>GBIF</a:t>
            </a:r>
            <a:r>
              <a:rPr sz="3000" spc="-140" dirty="0"/>
              <a:t> </a:t>
            </a:r>
            <a:r>
              <a:rPr sz="3000" dirty="0"/>
              <a:t>Records</a:t>
            </a:r>
            <a:r>
              <a:rPr sz="3000" spc="-60" dirty="0"/>
              <a:t> </a:t>
            </a:r>
            <a:r>
              <a:rPr sz="3000" dirty="0"/>
              <a:t>and</a:t>
            </a:r>
            <a:r>
              <a:rPr sz="3000" spc="-55" dirty="0"/>
              <a:t> </a:t>
            </a:r>
            <a:r>
              <a:rPr sz="3000" spc="-10" dirty="0"/>
              <a:t>Cleaning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0080" y="1365250"/>
          <a:ext cx="4938394" cy="3289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Region</a:t>
                      </a:r>
                      <a:r>
                        <a:rPr sz="15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file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5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(sampling</a:t>
                      </a:r>
                      <a:r>
                        <a:rPr sz="15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cap)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Africa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5,000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Asia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5,000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Europe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5,000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North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America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America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Oceania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007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5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raw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13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18,000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68948" y="1331721"/>
            <a:ext cx="5214620" cy="198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Cleaning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steps</a:t>
            </a:r>
            <a:endParaRPr sz="20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1210"/>
              </a:spcBef>
              <a:buChar char="•"/>
              <a:tabLst>
                <a:tab pos="196215" algn="l"/>
              </a:tabLst>
            </a:pPr>
            <a:r>
              <a:rPr sz="1700" dirty="0">
                <a:latin typeface="Times New Roman"/>
                <a:cs typeface="Times New Roman"/>
              </a:rPr>
              <a:t>Renamed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decimalLatitude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decimalLongitude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lon;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speciesKey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species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ID.</a:t>
            </a:r>
            <a:endParaRPr sz="17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805"/>
              </a:spcBef>
              <a:buChar char="•"/>
              <a:tabLst>
                <a:tab pos="196215" algn="l"/>
              </a:tabLst>
            </a:pPr>
            <a:r>
              <a:rPr sz="1700" dirty="0">
                <a:latin typeface="Times New Roman"/>
                <a:cs typeface="Times New Roman"/>
              </a:rPr>
              <a:t>Dropped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rows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missing species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coordinates.</a:t>
            </a:r>
            <a:endParaRPr sz="1700">
              <a:latin typeface="Times New Roman"/>
              <a:cs typeface="Times New Roman"/>
            </a:endParaRPr>
          </a:p>
          <a:p>
            <a:pPr marL="12700" marR="208915" indent="184150">
              <a:lnSpc>
                <a:spcPct val="100000"/>
              </a:lnSpc>
              <a:spcBef>
                <a:spcPts val="795"/>
              </a:spcBef>
              <a:buChar char="•"/>
              <a:tabLst>
                <a:tab pos="196850" algn="l"/>
              </a:tabLst>
            </a:pPr>
            <a:r>
              <a:rPr sz="1700" dirty="0">
                <a:latin typeface="Times New Roman"/>
                <a:cs typeface="Times New Roman"/>
              </a:rPr>
              <a:t>Dropped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duplicates, </a:t>
            </a:r>
            <a:r>
              <a:rPr sz="1700" spc="-10" dirty="0">
                <a:latin typeface="Times New Roman"/>
                <a:cs typeface="Times New Roman"/>
              </a:rPr>
              <a:t>out-of-</a:t>
            </a:r>
            <a:r>
              <a:rPr sz="1700" dirty="0">
                <a:latin typeface="Times New Roman"/>
                <a:cs typeface="Times New Roman"/>
              </a:rPr>
              <a:t>range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coordinates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(0,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0) </a:t>
            </a:r>
            <a:r>
              <a:rPr sz="1700" spc="-10" dirty="0">
                <a:latin typeface="Times New Roman"/>
                <a:cs typeface="Times New Roman"/>
              </a:rPr>
              <a:t>points.</a:t>
            </a:r>
            <a:endParaRPr sz="17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35040" y="3834129"/>
          <a:ext cx="4754879" cy="1233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5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cleaning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564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Clean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43890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17,396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species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9088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6,080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73100" y="5349341"/>
            <a:ext cx="8280400" cy="7143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890"/>
              </a:spcBef>
              <a:buChar char="•"/>
              <a:tabLst>
                <a:tab pos="185420" algn="l"/>
              </a:tabLst>
            </a:pPr>
            <a:r>
              <a:rPr sz="1600" dirty="0">
                <a:latin typeface="Times New Roman"/>
                <a:cs typeface="Times New Roman"/>
              </a:rPr>
              <a:t>Caps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continent,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Africa,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Asia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Europe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heavily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three.</a:t>
            </a:r>
            <a:endParaRPr sz="16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795"/>
              </a:spcBef>
              <a:buChar char="•"/>
              <a:tabLst>
                <a:tab pos="185420" algn="l"/>
              </a:tabLst>
            </a:pPr>
            <a:r>
              <a:rPr sz="1600" dirty="0">
                <a:latin typeface="Times New Roman"/>
                <a:cs typeface="Times New Roman"/>
              </a:rPr>
              <a:t>GBIF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richness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here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"observed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richness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sample".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biodiversity.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Methodology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287526"/>
            <a:ext cx="111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Richness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6473" y="1287526"/>
            <a:ext cx="8617585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Divide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world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5°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5°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Richness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unique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species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(GBIF).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375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cells </a:t>
            </a:r>
            <a:r>
              <a:rPr sz="1700" dirty="0">
                <a:latin typeface="Times New Roman"/>
                <a:cs typeface="Times New Roman"/>
              </a:rPr>
              <a:t>have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records.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2138298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2.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Stability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473" y="2138299"/>
            <a:ext cx="8401050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BIO1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three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slices,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compute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stability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metrics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record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location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(lower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= </a:t>
            </a:r>
            <a:r>
              <a:rPr sz="1700" dirty="0">
                <a:latin typeface="Times New Roman"/>
                <a:cs typeface="Times New Roman"/>
              </a:rPr>
              <a:t>more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stable).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100" y="2988690"/>
            <a:ext cx="131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3.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Cell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values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6473" y="2988691"/>
            <a:ext cx="8432800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Sample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climate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rasters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17,396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GBIF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points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average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375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</a:t>
            </a:r>
            <a:r>
              <a:rPr sz="1700" spc="-10" dirty="0">
                <a:latin typeface="Times New Roman"/>
                <a:cs typeface="Times New Roman"/>
              </a:rPr>
              <a:t> (PaleoClim), </a:t>
            </a:r>
            <a:r>
              <a:rPr sz="1700" dirty="0">
                <a:latin typeface="Times New Roman"/>
                <a:cs typeface="Times New Roman"/>
              </a:rPr>
              <a:t>374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</a:t>
            </a:r>
            <a:r>
              <a:rPr sz="1700" spc="-10" dirty="0">
                <a:latin typeface="Times New Roman"/>
                <a:cs typeface="Times New Roman"/>
              </a:rPr>
              <a:t> (WorldClim).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100" y="3839336"/>
            <a:ext cx="80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4.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Filter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6473" y="3839336"/>
            <a:ext cx="804799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Keep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least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GBIF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records,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because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few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records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give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unreliable </a:t>
            </a:r>
            <a:r>
              <a:rPr sz="1700" dirty="0">
                <a:latin typeface="Times New Roman"/>
                <a:cs typeface="Times New Roman"/>
              </a:rPr>
              <a:t>richness.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leaves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188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cells.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4689729"/>
            <a:ext cx="112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5.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Statistics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100" y="5540450"/>
            <a:ext cx="1356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6.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Robustness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76473" y="4689728"/>
            <a:ext cx="8470900" cy="113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Spearman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correlation()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between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richness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stability.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Partial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Spearman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controlling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sampling </a:t>
            </a:r>
            <a:r>
              <a:rPr sz="1700" dirty="0">
                <a:latin typeface="Times New Roman"/>
                <a:cs typeface="Times New Roman"/>
              </a:rPr>
              <a:t>effort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(log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records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absolute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latitude.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Quartile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comparison,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dataset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agreement,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hotspot </a:t>
            </a:r>
            <a:r>
              <a:rPr sz="1700" spc="-20" dirty="0">
                <a:latin typeface="Times New Roman"/>
                <a:cs typeface="Times New Roman"/>
              </a:rPr>
              <a:t>map.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700" dirty="0">
                <a:latin typeface="Times New Roman"/>
                <a:cs typeface="Times New Roman"/>
              </a:rPr>
              <a:t>Repeat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analysis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2°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(264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cells)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5°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(188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cells).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Methodology:</a:t>
            </a:r>
            <a:r>
              <a:rPr sz="3000" spc="-60" dirty="0"/>
              <a:t> </a:t>
            </a:r>
            <a:r>
              <a:rPr sz="3000" dirty="0"/>
              <a:t>How</a:t>
            </a:r>
            <a:r>
              <a:rPr sz="3000" spc="-60" dirty="0"/>
              <a:t> </a:t>
            </a:r>
            <a:r>
              <a:rPr sz="3000" dirty="0"/>
              <a:t>Stability</a:t>
            </a:r>
            <a:r>
              <a:rPr sz="3000" spc="-40" dirty="0"/>
              <a:t> </a:t>
            </a:r>
            <a:r>
              <a:rPr sz="3000" dirty="0"/>
              <a:t>Is</a:t>
            </a:r>
            <a:r>
              <a:rPr sz="3000" spc="-75" dirty="0"/>
              <a:t> </a:t>
            </a:r>
            <a:r>
              <a:rPr sz="3000" spc="-10" dirty="0"/>
              <a:t>Measured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4359" y="1365250"/>
          <a:ext cx="1120203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69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Metric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5430" algn="ctr">
                        <a:lnSpc>
                          <a:spcPct val="100000"/>
                        </a:lnSpc>
                        <a:spcBef>
                          <a:spcPts val="169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Definition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169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Meaning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7970"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|BIO1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LGM|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42185" marR="186690" indent="-18903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measure. Large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climate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changed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lot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since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ice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Holocene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6700"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|BIO1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Holocene|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1290"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everywhere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(max about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2.4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°C),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adds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little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Instability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52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slices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52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stability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measure,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check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152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3100" y="4295622"/>
            <a:ext cx="10539730" cy="19875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2425" algn="l"/>
              </a:tabLst>
            </a:pPr>
            <a:r>
              <a:rPr sz="1700" dirty="0">
                <a:latin typeface="Times New Roman"/>
                <a:cs typeface="Times New Roman"/>
              </a:rPr>
              <a:t>Lower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more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stable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climate.</a:t>
            </a:r>
            <a:endParaRPr sz="1700">
              <a:latin typeface="Times New Roman"/>
              <a:cs typeface="Times New Roman"/>
            </a:endParaRPr>
          </a:p>
          <a:p>
            <a:pPr marL="349250" indent="-33655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349250" algn="l"/>
              </a:tabLst>
            </a:pP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slices: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PaleoClim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Current,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Late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Holocene,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LGM.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WorldClim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Present,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Mid-</a:t>
            </a:r>
            <a:r>
              <a:rPr sz="1700" dirty="0">
                <a:latin typeface="Times New Roman"/>
                <a:cs typeface="Times New Roman"/>
              </a:rPr>
              <a:t>Holocene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(about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ka),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LGM.</a:t>
            </a:r>
            <a:endParaRPr sz="17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9085" algn="l"/>
              </a:tabLst>
            </a:pPr>
            <a:r>
              <a:rPr sz="1700" dirty="0">
                <a:latin typeface="Times New Roman"/>
                <a:cs typeface="Times New Roman"/>
              </a:rPr>
              <a:t>Spearman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correlation: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ρ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[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Σ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dᵢ²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]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[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(n²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1)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], where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dᵢ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rank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richness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rank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stability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cell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=</a:t>
            </a:r>
            <a:endParaRPr sz="17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188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cells</a:t>
            </a:r>
            <a:endParaRPr sz="17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9085" algn="l"/>
              </a:tabLst>
            </a:pPr>
            <a:r>
              <a:rPr sz="1700" dirty="0">
                <a:latin typeface="Times New Roman"/>
                <a:cs typeface="Times New Roman"/>
              </a:rPr>
              <a:t>Partial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Spearman: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rank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richness,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stability,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log(records)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|latitude|.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Regress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ranked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variable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log(records)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</a:t>
            </a:r>
            <a:endParaRPr sz="17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|lat|,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take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correlation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residuals: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partial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ρ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Spearman(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e_richness,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e_stability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30" dirty="0"/>
              <a:t> </a:t>
            </a:r>
            <a:r>
              <a:rPr sz="3000" dirty="0"/>
              <a:t>GBIF</a:t>
            </a:r>
            <a:r>
              <a:rPr sz="3000" spc="-135" dirty="0"/>
              <a:t> </a:t>
            </a:r>
            <a:r>
              <a:rPr sz="3000" dirty="0"/>
              <a:t>Species</a:t>
            </a:r>
            <a:r>
              <a:rPr sz="3000" spc="-40" dirty="0"/>
              <a:t> </a:t>
            </a:r>
            <a:r>
              <a:rPr sz="3000" spc="-10" dirty="0"/>
              <a:t>Richness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57200" y="1280160"/>
            <a:ext cx="11247120" cy="3263900"/>
            <a:chOff x="457200" y="1280160"/>
            <a:chExt cx="11247120" cy="3263900"/>
          </a:xfrm>
        </p:grpSpPr>
        <p:pic>
          <p:nvPicPr>
            <p:cNvPr id="5" name="object 5" descr="gbif_richness_map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280160"/>
              <a:ext cx="5760720" cy="3263519"/>
            </a:xfrm>
            <a:prstGeom prst="rect">
              <a:avLst/>
            </a:prstGeom>
          </p:spPr>
        </p:pic>
        <p:pic>
          <p:nvPicPr>
            <p:cNvPr id="6" name="object 6" descr="gbif_records_map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920" y="1280160"/>
              <a:ext cx="5486400" cy="2980690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40080" y="4839970"/>
          <a:ext cx="6766559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Measure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6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Grid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0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375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Richness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cell: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0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26.6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453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cell: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0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46.4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1,757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0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750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125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97748" y="4855845"/>
            <a:ext cx="378206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64184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346710" algn="l"/>
              </a:tabLst>
            </a:pPr>
            <a:r>
              <a:rPr sz="1500" dirty="0">
                <a:latin typeface="Arial"/>
                <a:cs typeface="Arial"/>
              </a:rPr>
              <a:t>	</a:t>
            </a:r>
            <a:r>
              <a:rPr sz="1500" dirty="0">
                <a:latin typeface="Times New Roman"/>
                <a:cs typeface="Times New Roman"/>
              </a:rPr>
              <a:t>Records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denser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North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America, </a:t>
            </a:r>
            <a:r>
              <a:rPr sz="1500" dirty="0">
                <a:latin typeface="Times New Roman"/>
                <a:cs typeface="Times New Roman"/>
              </a:rPr>
              <a:t>Europe,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South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Africa,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eastern Australia.</a:t>
            </a:r>
            <a:endParaRPr sz="150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393700" algn="l"/>
              </a:tabLst>
            </a:pPr>
            <a:r>
              <a:rPr sz="1500" dirty="0">
                <a:latin typeface="Times New Roman"/>
                <a:cs typeface="Times New Roman"/>
              </a:rPr>
              <a:t>187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375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cells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fewer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10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records.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35" dirty="0"/>
              <a:t> </a:t>
            </a:r>
            <a:r>
              <a:rPr sz="3000" dirty="0"/>
              <a:t>Richest</a:t>
            </a:r>
            <a:r>
              <a:rPr sz="3000" spc="-20" dirty="0"/>
              <a:t> </a:t>
            </a:r>
            <a:r>
              <a:rPr sz="3000" dirty="0"/>
              <a:t>Cells</a:t>
            </a:r>
            <a:r>
              <a:rPr sz="3000" spc="-25" dirty="0"/>
              <a:t> </a:t>
            </a:r>
            <a:r>
              <a:rPr sz="3000" dirty="0"/>
              <a:t>and</a:t>
            </a:r>
            <a:r>
              <a:rPr sz="3000" spc="-45" dirty="0"/>
              <a:t> </a:t>
            </a:r>
            <a:r>
              <a:rPr sz="3000" dirty="0"/>
              <a:t>Sampling</a:t>
            </a:r>
            <a:r>
              <a:rPr sz="3000" spc="-30" dirty="0"/>
              <a:t> </a:t>
            </a:r>
            <a:r>
              <a:rPr sz="3000" spc="-10" dirty="0"/>
              <a:t>Effort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7200" y="1273810"/>
          <a:ext cx="6857364" cy="3716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13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centre</a:t>
                      </a:r>
                      <a:r>
                        <a:rPr sz="13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(lat,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lon)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Richness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2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Region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27.5,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32.5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453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619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86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NE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Africa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 S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Mozambique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32.5,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17.5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451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756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86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Western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Cape,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Africa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22.5,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32.5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437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662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86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Kruger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Mozambique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27.5,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27.5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373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556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5049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Interior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Africa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22.5,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122.5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312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422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86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Taiwan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2.5,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102.5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289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445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2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Peninsular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Malaysia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Singapore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32.5,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27.5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240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351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22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Eastern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Cape,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Africa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32.5,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22.5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224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302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5049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Southern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South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Africa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27.5,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17.5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301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986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Canary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Islands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27.5,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122.5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170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224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East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China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coast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 descr="gbif_richness_latitud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8080" y="1234439"/>
            <a:ext cx="3598799" cy="26517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44689" y="3944831"/>
            <a:ext cx="1907539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Mean</a:t>
            </a:r>
            <a:r>
              <a:rPr sz="1200" spc="-2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richness</a:t>
            </a:r>
            <a:r>
              <a:rPr sz="1200" spc="-2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by</a:t>
            </a:r>
            <a:r>
              <a:rPr sz="1200" spc="-4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latitude</a:t>
            </a:r>
            <a:r>
              <a:rPr sz="1200" spc="-20" dirty="0">
                <a:solidFill>
                  <a:srgbClr val="545454"/>
                </a:solidFill>
                <a:latin typeface="Times New Roman"/>
                <a:cs typeface="Times New Roman"/>
              </a:rPr>
              <a:t> band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 descr="gbif_records_per_cel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8080" y="3977640"/>
            <a:ext cx="3026664" cy="228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0219" y="5028245"/>
            <a:ext cx="8737600" cy="14738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49250" algn="l"/>
              </a:tabLst>
            </a:pPr>
            <a:r>
              <a:rPr sz="1600" dirty="0">
                <a:latin typeface="Times New Roman"/>
                <a:cs typeface="Times New Roman"/>
              </a:rPr>
              <a:t>Six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10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richest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South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Africa.</a:t>
            </a:r>
            <a:endParaRPr sz="1600">
              <a:latin typeface="Times New Roman"/>
              <a:cs typeface="Times New Roman"/>
            </a:endParaRPr>
          </a:p>
          <a:p>
            <a:pPr marL="299085" marR="2491105" indent="-287020">
              <a:lnSpc>
                <a:spcPct val="100000"/>
              </a:lnSpc>
              <a:spcBef>
                <a:spcPts val="795"/>
              </a:spcBef>
              <a:buChar char="•"/>
              <a:tabLst>
                <a:tab pos="299085" algn="l"/>
                <a:tab pos="346075" algn="l"/>
              </a:tabLst>
            </a:pP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peak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near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30°S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(about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80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species)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South </a:t>
            </a:r>
            <a:r>
              <a:rPr sz="1600" dirty="0">
                <a:latin typeface="Times New Roman"/>
                <a:cs typeface="Times New Roman"/>
              </a:rPr>
              <a:t>African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tropical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peak,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sampling effect.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690"/>
              </a:spcBef>
            </a:pP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Records</a:t>
            </a:r>
            <a:r>
              <a:rPr sz="1200" spc="-2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per</a:t>
            </a:r>
            <a:r>
              <a:rPr sz="12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cell</a:t>
            </a:r>
            <a:r>
              <a:rPr sz="1200" spc="-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(log</a:t>
            </a:r>
            <a:r>
              <a:rPr sz="12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scale)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70" dirty="0"/>
              <a:t> </a:t>
            </a:r>
            <a:r>
              <a:rPr sz="3000" dirty="0"/>
              <a:t>PaleoClim</a:t>
            </a:r>
            <a:r>
              <a:rPr sz="3000" spc="-40" dirty="0"/>
              <a:t> </a:t>
            </a:r>
            <a:r>
              <a:rPr sz="3000" dirty="0"/>
              <a:t>BIO1</a:t>
            </a:r>
            <a:r>
              <a:rPr sz="3000" spc="-65" dirty="0"/>
              <a:t> </a:t>
            </a:r>
            <a:r>
              <a:rPr sz="3000" dirty="0"/>
              <a:t>at</a:t>
            </a:r>
            <a:r>
              <a:rPr sz="3000" spc="-110" dirty="0"/>
              <a:t> </a:t>
            </a:r>
            <a:r>
              <a:rPr sz="3000" dirty="0"/>
              <a:t>Three</a:t>
            </a:r>
            <a:r>
              <a:rPr sz="3000" spc="-120" dirty="0"/>
              <a:t> </a:t>
            </a:r>
            <a:r>
              <a:rPr sz="3000" dirty="0"/>
              <a:t>Time</a:t>
            </a:r>
            <a:r>
              <a:rPr sz="3000" spc="-60" dirty="0"/>
              <a:t> </a:t>
            </a:r>
            <a:r>
              <a:rPr sz="3000" spc="-10" dirty="0"/>
              <a:t>Slices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8779" y="3102991"/>
            <a:ext cx="5518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Present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80160"/>
            <a:ext cx="11521439" cy="17952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39895" y="3102991"/>
            <a:ext cx="10699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Late</a:t>
            </a:r>
            <a:r>
              <a:rPr sz="1400" spc="-3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Holocene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629" y="3102991"/>
            <a:ext cx="16795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Last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Glacial</a:t>
            </a: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 Maximum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40080" y="3834129"/>
          <a:ext cx="5457189" cy="1736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7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Global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49250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Min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Mean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Present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52.3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32.2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2.78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Holocene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52.6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30.1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3.48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LGM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79.9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27.3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15.07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617589" y="3848480"/>
            <a:ext cx="5216525" cy="149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77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354965" algn="l"/>
              </a:tabLst>
            </a:pPr>
            <a:r>
              <a:rPr sz="1800" dirty="0">
                <a:latin typeface="Arial"/>
                <a:cs typeface="Arial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LGM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coldest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period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Holocene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close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expected.</a:t>
            </a:r>
            <a:endParaRPr sz="18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805"/>
              </a:spcBef>
              <a:buChar char="•"/>
              <a:tabLst>
                <a:tab pos="299085" algn="l"/>
                <a:tab pos="354965" algn="l"/>
              </a:tabLst>
            </a:pPr>
            <a:r>
              <a:rPr sz="1800" dirty="0">
                <a:latin typeface="Arial"/>
                <a:cs typeface="Arial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Global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because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Antarctica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Greenland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included.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grid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averages,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area-weighted,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true global</a:t>
            </a:r>
            <a:r>
              <a:rPr sz="1800" spc="-10" dirty="0">
                <a:latin typeface="Times New Roman"/>
                <a:cs typeface="Times New Roman"/>
              </a:rPr>
              <a:t> means.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90" dirty="0"/>
              <a:t> </a:t>
            </a:r>
            <a:r>
              <a:rPr sz="3000" dirty="0"/>
              <a:t>PaleoClim</a:t>
            </a:r>
            <a:r>
              <a:rPr sz="3000" spc="-60" dirty="0"/>
              <a:t> </a:t>
            </a:r>
            <a:r>
              <a:rPr sz="3000" spc="-10" dirty="0"/>
              <a:t>Stability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pc_lgm_chan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80160"/>
            <a:ext cx="6035040" cy="28460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0219" y="4471542"/>
            <a:ext cx="3294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|Present</a:t>
            </a:r>
            <a:r>
              <a:rPr sz="1400" spc="-3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-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LGM|</a:t>
            </a:r>
            <a:r>
              <a:rPr sz="14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change</a:t>
            </a:r>
            <a:r>
              <a:rPr sz="1400" spc="-4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(lower</a:t>
            </a:r>
            <a:r>
              <a:rPr sz="14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more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stable)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 descr="pc_change_his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5832" y="1328547"/>
            <a:ext cx="3840479" cy="28566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8888" y="4535804"/>
            <a:ext cx="2318512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45454"/>
                </a:solidFill>
                <a:latin typeface="Times New Roman"/>
                <a:cs typeface="Times New Roman"/>
              </a:rPr>
              <a:t>Global</a:t>
            </a:r>
            <a:r>
              <a:rPr sz="15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45454"/>
                </a:solidFill>
                <a:latin typeface="Times New Roman"/>
                <a:cs typeface="Times New Roman"/>
              </a:rPr>
              <a:t>change</a:t>
            </a:r>
            <a:r>
              <a:rPr sz="1500" spc="-3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45454"/>
                </a:solidFill>
                <a:latin typeface="Times New Roman"/>
                <a:cs typeface="Times New Roman"/>
              </a:rPr>
              <a:t>distribution</a:t>
            </a:r>
            <a:endParaRPr sz="15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7200" y="4853813"/>
          <a:ext cx="6306184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3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375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GBIF</a:t>
                      </a:r>
                      <a:r>
                        <a:rPr sz="13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17804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Min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Median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Mean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4.70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7.29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33.92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Holocene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0.00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0.60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0.64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2.22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Instability,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SD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0.53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2.56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4.07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19.50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58888" y="4993640"/>
            <a:ext cx="4404995" cy="129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535" indent="-3308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3535" algn="l"/>
              </a:tabLst>
            </a:pPr>
            <a:r>
              <a:rPr sz="1400" dirty="0">
                <a:latin typeface="Times New Roman"/>
                <a:cs typeface="Times New Roman"/>
              </a:rPr>
              <a:t>Stable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cells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(change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307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(82%).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Moderate</a:t>
            </a:r>
            <a:r>
              <a:rPr sz="1400" spc="-20" dirty="0">
                <a:latin typeface="Times New Roman"/>
                <a:cs typeface="Times New Roman"/>
              </a:rPr>
              <a:t> (10-</a:t>
            </a:r>
            <a:endParaRPr sz="1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20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34.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Unstable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(&gt;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34.</a:t>
            </a:r>
            <a:endParaRPr sz="1400">
              <a:latin typeface="Times New Roman"/>
              <a:cs typeface="Times New Roman"/>
            </a:endParaRPr>
          </a:p>
          <a:p>
            <a:pPr marL="374650" marR="218440" indent="-374650" algn="ctr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374650" algn="l"/>
              </a:tabLst>
            </a:pPr>
            <a:r>
              <a:rPr sz="1400" dirty="0">
                <a:latin typeface="Times New Roman"/>
                <a:cs typeface="Times New Roman"/>
              </a:rPr>
              <a:t>Biggest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(30-35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 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ice-covered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northern</a:t>
            </a:r>
            <a:endParaRPr sz="1400">
              <a:latin typeface="Times New Roman"/>
              <a:cs typeface="Times New Roman"/>
            </a:endParaRPr>
          </a:p>
          <a:p>
            <a:pPr marR="269240" algn="ctr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North</a:t>
            </a:r>
            <a:r>
              <a:rPr sz="1400" spc="-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America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Eurasia.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Tropics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least.</a:t>
            </a:r>
            <a:endParaRPr sz="1400">
              <a:latin typeface="Times New Roman"/>
              <a:cs typeface="Times New Roman"/>
            </a:endParaRPr>
          </a:p>
          <a:p>
            <a:pPr marL="343535" indent="-33083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343535" algn="l"/>
              </a:tabLst>
            </a:pPr>
            <a:r>
              <a:rPr sz="1400" dirty="0">
                <a:latin typeface="Times New Roman"/>
                <a:cs typeface="Times New Roman"/>
              </a:rPr>
              <a:t>LGM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|latitude|: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Spearman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rho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0" dirty="0">
                <a:latin typeface="Times New Roman"/>
                <a:cs typeface="Times New Roman"/>
              </a:rPr>
              <a:t> 0.52.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130" dirty="0"/>
              <a:t> </a:t>
            </a:r>
            <a:r>
              <a:rPr sz="3000" spc="-10" dirty="0"/>
              <a:t>WorldClim</a:t>
            </a:r>
            <a:r>
              <a:rPr sz="3000" spc="-50" dirty="0"/>
              <a:t> </a:t>
            </a:r>
            <a:r>
              <a:rPr sz="3000" dirty="0"/>
              <a:t>BIO1</a:t>
            </a:r>
            <a:r>
              <a:rPr sz="3000" spc="-70" dirty="0"/>
              <a:t> </a:t>
            </a:r>
            <a:r>
              <a:rPr sz="3000" dirty="0"/>
              <a:t>at</a:t>
            </a:r>
            <a:r>
              <a:rPr sz="3000" spc="-120" dirty="0"/>
              <a:t> </a:t>
            </a:r>
            <a:r>
              <a:rPr sz="3000" dirty="0"/>
              <a:t>Three</a:t>
            </a:r>
            <a:r>
              <a:rPr sz="3000" spc="-125" dirty="0"/>
              <a:t> </a:t>
            </a:r>
            <a:r>
              <a:rPr sz="3000" dirty="0"/>
              <a:t>Time</a:t>
            </a:r>
            <a:r>
              <a:rPr sz="3000" spc="-65" dirty="0"/>
              <a:t> </a:t>
            </a:r>
            <a:r>
              <a:rPr sz="3000" spc="-10" dirty="0"/>
              <a:t>Slices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8779" y="3104515"/>
            <a:ext cx="4737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Present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80160"/>
            <a:ext cx="11521439" cy="17952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39895" y="3104515"/>
            <a:ext cx="1555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Mid-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Holocene</a:t>
            </a:r>
            <a:r>
              <a:rPr sz="12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(CCSM4)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629" y="3104515"/>
            <a:ext cx="2087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Last</a:t>
            </a:r>
            <a:r>
              <a:rPr sz="12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Glacial</a:t>
            </a: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Maximum</a:t>
            </a:r>
            <a:r>
              <a:rPr sz="1200" spc="-5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545454"/>
                </a:solidFill>
                <a:latin typeface="Times New Roman"/>
                <a:cs typeface="Times New Roman"/>
              </a:rPr>
              <a:t>(CCSM4)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4359" y="4263897"/>
          <a:ext cx="5395594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Global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BIO1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Min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Mean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Present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559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23.7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30.8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8.15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Mid-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Holocene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559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24.5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29.7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7.09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LGM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559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37.1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30.6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2.03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693154" y="4215765"/>
            <a:ext cx="5085715" cy="169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2159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  <a:tab pos="400685" algn="l"/>
              </a:tabLst>
            </a:pP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Ordering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correct: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LGM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coldest,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mid-</a:t>
            </a:r>
            <a:r>
              <a:rPr sz="1600" dirty="0">
                <a:latin typeface="Times New Roman"/>
                <a:cs typeface="Times New Roman"/>
              </a:rPr>
              <a:t>Holocene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slightly </a:t>
            </a:r>
            <a:r>
              <a:rPr sz="1600" dirty="0">
                <a:latin typeface="Times New Roman"/>
                <a:cs typeface="Times New Roman"/>
              </a:rPr>
              <a:t>cooler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present.</a:t>
            </a:r>
            <a:endParaRPr sz="1600">
              <a:latin typeface="Times New Roman"/>
              <a:cs typeface="Times New Roman"/>
            </a:endParaRPr>
          </a:p>
          <a:p>
            <a:pPr marL="338455" indent="-32575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38455" algn="l"/>
              </a:tabLst>
            </a:pPr>
            <a:r>
              <a:rPr sz="1600" dirty="0">
                <a:latin typeface="Times New Roman"/>
                <a:cs typeface="Times New Roman"/>
              </a:rPr>
              <a:t>Antarctica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rasters,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than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PaleoClim.</a:t>
            </a:r>
            <a:endParaRPr sz="1600">
              <a:latin typeface="Times New Roman"/>
              <a:cs typeface="Times New Roman"/>
            </a:endParaRPr>
          </a:p>
          <a:p>
            <a:pPr marL="299085" marR="413384" indent="-287020">
              <a:lnSpc>
                <a:spcPct val="100000"/>
              </a:lnSpc>
              <a:spcBef>
                <a:spcPts val="810"/>
              </a:spcBef>
              <a:buChar char="•"/>
              <a:tabLst>
                <a:tab pos="299085" algn="l"/>
                <a:tab pos="346075" algn="l"/>
              </a:tabLst>
            </a:pP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past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climate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comes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climate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model (CCSM4).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165" dirty="0"/>
              <a:t> </a:t>
            </a:r>
            <a:r>
              <a:rPr sz="3000" spc="-10" dirty="0"/>
              <a:t>WorldClim</a:t>
            </a:r>
            <a:r>
              <a:rPr sz="3000" spc="-90" dirty="0"/>
              <a:t> </a:t>
            </a:r>
            <a:r>
              <a:rPr sz="3000" spc="-10" dirty="0"/>
              <a:t>Stability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wc_lgm_chan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80160"/>
            <a:ext cx="6035040" cy="28397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8779" y="4307840"/>
            <a:ext cx="3294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|Present</a:t>
            </a:r>
            <a:r>
              <a:rPr sz="1400" spc="-3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-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LGM|</a:t>
            </a:r>
            <a:r>
              <a:rPr sz="14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change</a:t>
            </a:r>
            <a:r>
              <a:rPr sz="1400" spc="-4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(lower</a:t>
            </a:r>
            <a:r>
              <a:rPr sz="14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more</a:t>
            </a:r>
            <a:r>
              <a:rPr sz="1400" spc="-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stable)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 descr="wc_change_his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680" y="1280160"/>
            <a:ext cx="3840479" cy="28868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49108" y="4314190"/>
            <a:ext cx="1924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Global</a:t>
            </a:r>
            <a:r>
              <a:rPr sz="14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45454"/>
                </a:solidFill>
                <a:latin typeface="Times New Roman"/>
                <a:cs typeface="Times New Roman"/>
              </a:rPr>
              <a:t>change</a:t>
            </a:r>
            <a:r>
              <a:rPr sz="1400" spc="-3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Times New Roman"/>
                <a:cs typeface="Times New Roman"/>
              </a:rPr>
              <a:t>distribution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65759" y="4839970"/>
          <a:ext cx="6311264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3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374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GBIF</a:t>
                      </a:r>
                      <a:r>
                        <a:rPr sz="13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17804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Min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Median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Mean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Max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1.60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3.85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6.47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27.60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Mid-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Holocene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0.00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0.78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0.83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2.43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Instability,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SD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0.82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2.02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3.55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15.65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49108" y="4672965"/>
            <a:ext cx="4376420" cy="129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2900" algn="l"/>
              </a:tabLst>
            </a:pPr>
            <a:r>
              <a:rPr sz="1400" dirty="0">
                <a:latin typeface="Times New Roman"/>
                <a:cs typeface="Times New Roman"/>
              </a:rPr>
              <a:t>Stable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cells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(change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 10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°C):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314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(84%).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Moderate:</a:t>
            </a:r>
            <a:r>
              <a:rPr sz="1400" spc="-25" dirty="0">
                <a:latin typeface="Times New Roman"/>
                <a:cs typeface="Times New Roman"/>
              </a:rPr>
              <a:t> 31.</a:t>
            </a:r>
            <a:endParaRPr sz="14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Unstable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(&gt;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°C):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29.</a:t>
            </a:r>
            <a:endParaRPr sz="14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Same pattern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PaleoClim: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largest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former</a:t>
            </a:r>
            <a:endParaRPr sz="14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ice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sheets,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smallest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tropics.</a:t>
            </a:r>
            <a:endParaRPr sz="14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Times New Roman"/>
                <a:cs typeface="Times New Roman"/>
              </a:rPr>
              <a:t>LGM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|latitude|: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Spearman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rho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0" dirty="0">
                <a:latin typeface="Times New Roman"/>
                <a:cs typeface="Times New Roman"/>
              </a:rPr>
              <a:t> 0.69.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PaleoClim</a:t>
            </a:r>
            <a:r>
              <a:rPr sz="3000" spc="-85" dirty="0"/>
              <a:t> </a:t>
            </a:r>
            <a:r>
              <a:rPr sz="3000" dirty="0"/>
              <a:t>vs</a:t>
            </a:r>
            <a:r>
              <a:rPr sz="3000" spc="-110" dirty="0"/>
              <a:t> </a:t>
            </a:r>
            <a:r>
              <a:rPr sz="3000" spc="-20" dirty="0"/>
              <a:t>WorldClim:</a:t>
            </a:r>
            <a:r>
              <a:rPr sz="3000" spc="-35" dirty="0"/>
              <a:t> </a:t>
            </a:r>
            <a:r>
              <a:rPr sz="3000" dirty="0"/>
              <a:t>Do</a:t>
            </a:r>
            <a:r>
              <a:rPr sz="3000" spc="-55" dirty="0"/>
              <a:t> </a:t>
            </a:r>
            <a:r>
              <a:rPr sz="3000" dirty="0"/>
              <a:t>the</a:t>
            </a:r>
            <a:r>
              <a:rPr sz="3000" spc="-114" dirty="0"/>
              <a:t> </a:t>
            </a:r>
            <a:r>
              <a:rPr sz="3000" spc="-30" dirty="0"/>
              <a:t>Two</a:t>
            </a:r>
            <a:r>
              <a:rPr sz="3000" spc="-55" dirty="0"/>
              <a:t> </a:t>
            </a:r>
            <a:r>
              <a:rPr sz="3000" spc="-20" dirty="0"/>
              <a:t>Sources</a:t>
            </a:r>
            <a:r>
              <a:rPr sz="3000" spc="-180" dirty="0"/>
              <a:t> </a:t>
            </a:r>
            <a:r>
              <a:rPr sz="3000" spc="-10" dirty="0"/>
              <a:t>Agree?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8640" y="1365250"/>
          <a:ext cx="7864475" cy="379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69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PaleoClim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78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CHELSA-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reconstruction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CCSM4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climate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simulation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Holocene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slice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Holocene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Mid-Holocene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(about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ka)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climate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375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7.30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6.47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(°C)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33.9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27.6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Unstable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(&gt;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°C)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|latitude|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(rho)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0.52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0.69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636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 descr="int_dataset_agreemen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0" y="1280160"/>
            <a:ext cx="3029457" cy="31089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12530" y="4418457"/>
            <a:ext cx="2278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Agreement</a:t>
            </a:r>
            <a:r>
              <a:rPr sz="1200" spc="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on</a:t>
            </a:r>
            <a:r>
              <a:rPr sz="12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188</a:t>
            </a:r>
            <a:r>
              <a:rPr sz="1200" spc="-3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45454"/>
                </a:solidFill>
                <a:latin typeface="Times New Roman"/>
                <a:cs typeface="Times New Roman"/>
              </a:rPr>
              <a:t>analysed</a:t>
            </a:r>
            <a:r>
              <a:rPr sz="1200" spc="2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545454"/>
                </a:solidFill>
                <a:latin typeface="Times New Roman"/>
                <a:cs typeface="Times New Roman"/>
              </a:rPr>
              <a:t>cells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59" y="5587694"/>
            <a:ext cx="10792460" cy="857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812800" algn="l"/>
              </a:tabLst>
            </a:pPr>
            <a:r>
              <a:rPr sz="1600" dirty="0">
                <a:latin typeface="Times New Roman"/>
                <a:cs typeface="Times New Roman"/>
              </a:rPr>
              <a:t>Spearman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LGM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0.75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188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0.78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shared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sources </a:t>
            </a:r>
            <a:r>
              <a:rPr sz="1600" spc="-20" dirty="0">
                <a:latin typeface="Times New Roman"/>
                <a:cs typeface="Times New Roman"/>
              </a:rPr>
              <a:t>rank</a:t>
            </a:r>
            <a:r>
              <a:rPr sz="1600" dirty="0">
                <a:latin typeface="Times New Roman"/>
                <a:cs typeface="Times New Roman"/>
              </a:rPr>
              <a:t>	cells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similarly.</a:t>
            </a:r>
            <a:endParaRPr sz="1600">
              <a:latin typeface="Times New Roman"/>
              <a:cs typeface="Times New Roman"/>
            </a:endParaRPr>
          </a:p>
          <a:p>
            <a:pPr marL="349250" indent="-33655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49250" algn="l"/>
              </a:tabLst>
            </a:pPr>
            <a:r>
              <a:rPr sz="1600" dirty="0">
                <a:latin typeface="Times New Roman"/>
                <a:cs typeface="Times New Roman"/>
              </a:rPr>
              <a:t>PaleoClim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larger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latitudes.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Integration:</a:t>
            </a:r>
            <a:r>
              <a:rPr sz="3000" spc="-55" dirty="0"/>
              <a:t> </a:t>
            </a:r>
            <a:r>
              <a:rPr sz="3000" dirty="0"/>
              <a:t>Cells</a:t>
            </a:r>
            <a:r>
              <a:rPr sz="3000" spc="-30" dirty="0"/>
              <a:t> </a:t>
            </a:r>
            <a:r>
              <a:rPr sz="3000" dirty="0"/>
              <a:t>Used</a:t>
            </a:r>
            <a:r>
              <a:rPr sz="3000" spc="-65" dirty="0"/>
              <a:t> </a:t>
            </a:r>
            <a:r>
              <a:rPr sz="3000" dirty="0"/>
              <a:t>in</a:t>
            </a:r>
            <a:r>
              <a:rPr sz="3000" spc="-35" dirty="0"/>
              <a:t> </a:t>
            </a:r>
            <a:r>
              <a:rPr sz="3000" dirty="0"/>
              <a:t>the</a:t>
            </a:r>
            <a:r>
              <a:rPr sz="3000" spc="-190" dirty="0"/>
              <a:t> </a:t>
            </a:r>
            <a:r>
              <a:rPr sz="3000" spc="-10" dirty="0"/>
              <a:t>Analysis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1832" y="1650364"/>
          <a:ext cx="8412479" cy="219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70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7545" algn="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GBIF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records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42950" algn="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375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merging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PaleoClim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84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42950" algn="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84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GBIF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(analysed)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84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42950" algn="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3843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3100" y="4566665"/>
            <a:ext cx="9289415" cy="115316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413384" algn="l"/>
              </a:tabLst>
            </a:pPr>
            <a:r>
              <a:rPr sz="1800" dirty="0">
                <a:latin typeface="Times New Roman"/>
                <a:cs typeface="Times New Roman"/>
              </a:rPr>
              <a:t>Richness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unique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5°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cell.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Stability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LGM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instability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(SD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slices).</a:t>
            </a:r>
            <a:endParaRPr sz="1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413384" algn="l"/>
              </a:tabLst>
            </a:pP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variables: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log(records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cell)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sampling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effort,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|latitude|.</a:t>
            </a:r>
            <a:endParaRPr sz="1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413384" algn="l"/>
              </a:tabLst>
            </a:pPr>
            <a:r>
              <a:rPr sz="1800" dirty="0">
                <a:latin typeface="Times New Roman"/>
                <a:cs typeface="Times New Roman"/>
              </a:rPr>
              <a:t>Latitude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stability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strongly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(rho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0.52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0.69).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Results:</a:t>
            </a:r>
            <a:r>
              <a:rPr sz="3000" spc="-30" dirty="0"/>
              <a:t> </a:t>
            </a:r>
            <a:r>
              <a:rPr sz="3000" dirty="0"/>
              <a:t>Richness</a:t>
            </a:r>
            <a:r>
              <a:rPr sz="3000" spc="-45" dirty="0"/>
              <a:t> </a:t>
            </a:r>
            <a:r>
              <a:rPr sz="3000" dirty="0"/>
              <a:t>vs</a:t>
            </a:r>
            <a:r>
              <a:rPr sz="3000" spc="-25" dirty="0"/>
              <a:t> </a:t>
            </a:r>
            <a:r>
              <a:rPr sz="3000" dirty="0"/>
              <a:t>Climatic</a:t>
            </a:r>
            <a:r>
              <a:rPr sz="3000" spc="-5" dirty="0"/>
              <a:t> </a:t>
            </a:r>
            <a:r>
              <a:rPr sz="3000" spc="-10" dirty="0"/>
              <a:t>Stability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0080" y="1365250"/>
          <a:ext cx="10060302" cy="2513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11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114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Stability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metric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Spearman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rho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rho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PaleoClim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8605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0.468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0.207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0.004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PaleoClim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178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Instability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0.046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0.530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0.212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0.003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860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0.011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0.880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0.114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0.120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24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Instability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0.696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0.163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7380" y="4268224"/>
            <a:ext cx="10970259" cy="1675367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396240" algn="l"/>
              </a:tabLst>
            </a:pPr>
            <a:r>
              <a:rPr sz="1600" spc="-10" dirty="0">
                <a:latin typeface="Times New Roman"/>
                <a:cs typeface="Times New Roman"/>
              </a:rPr>
              <a:t>Without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zero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(-</a:t>
            </a:r>
            <a:r>
              <a:rPr sz="1600" dirty="0">
                <a:latin typeface="Times New Roman"/>
                <a:cs typeface="Times New Roman"/>
              </a:rPr>
              <a:t>0.053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0.029,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&gt;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0.46).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relationship.</a:t>
            </a:r>
            <a:endParaRPr sz="1600" dirty="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299085" algn="l"/>
                <a:tab pos="388620" algn="l"/>
              </a:tabLst>
            </a:pP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controlling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sampling effort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latitude,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PaleoClim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weak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negative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relationship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(partial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0.21,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&lt;= </a:t>
            </a:r>
            <a:r>
              <a:rPr sz="1600" dirty="0">
                <a:latin typeface="Times New Roman"/>
                <a:cs typeface="Times New Roman"/>
              </a:rPr>
              <a:t>0.004):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slightly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10" dirty="0">
                <a:latin typeface="Times New Roman"/>
                <a:cs typeface="Times New Roman"/>
              </a:rPr>
              <a:t> stable.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96240" algn="l"/>
              </a:tabLst>
            </a:pPr>
            <a:r>
              <a:rPr sz="1600" spc="-10" dirty="0">
                <a:latin typeface="Times New Roman"/>
                <a:cs typeface="Times New Roman"/>
              </a:rPr>
              <a:t>WorldClim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 direction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(partial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0.10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0.11,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&gt;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0.12).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38455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0.2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 stability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explains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richness.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Richness</a:t>
            </a:r>
            <a:r>
              <a:rPr sz="3000" spc="-75" dirty="0"/>
              <a:t> </a:t>
            </a:r>
            <a:r>
              <a:rPr sz="3000" dirty="0"/>
              <a:t>vs</a:t>
            </a:r>
            <a:r>
              <a:rPr sz="3000" spc="-55" dirty="0"/>
              <a:t> </a:t>
            </a:r>
            <a:r>
              <a:rPr sz="3000" dirty="0"/>
              <a:t>LGM</a:t>
            </a:r>
            <a:r>
              <a:rPr sz="3000" spc="-105" dirty="0"/>
              <a:t> </a:t>
            </a:r>
            <a:r>
              <a:rPr sz="3000" spc="-30" dirty="0"/>
              <a:t>Temperature</a:t>
            </a:r>
            <a:r>
              <a:rPr sz="3000" spc="-60" dirty="0"/>
              <a:t> </a:t>
            </a:r>
            <a:r>
              <a:rPr sz="3000" spc="-10" dirty="0"/>
              <a:t>Change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int_scatt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961" y="1280160"/>
            <a:ext cx="7680959" cy="3538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1829" y="4955033"/>
            <a:ext cx="8268970" cy="13468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70815" indent="-158115">
              <a:lnSpc>
                <a:spcPct val="100000"/>
              </a:lnSpc>
              <a:spcBef>
                <a:spcPts val="894"/>
              </a:spcBef>
              <a:buChar char="•"/>
              <a:tabLst>
                <a:tab pos="17081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richest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cells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(over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250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species)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LGM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about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2-6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°C.</a:t>
            </a:r>
            <a:endParaRPr sz="1500">
              <a:latin typeface="Times New Roman"/>
              <a:cs typeface="Times New Roman"/>
            </a:endParaRPr>
          </a:p>
          <a:p>
            <a:pPr marL="173990" indent="-161290">
              <a:lnSpc>
                <a:spcPct val="100000"/>
              </a:lnSpc>
              <a:spcBef>
                <a:spcPts val="795"/>
              </a:spcBef>
              <a:buChar char="•"/>
              <a:tabLst>
                <a:tab pos="173990" algn="l"/>
              </a:tabLst>
            </a:pPr>
            <a:r>
              <a:rPr sz="1500" dirty="0">
                <a:latin typeface="Times New Roman"/>
                <a:cs typeface="Times New Roman"/>
              </a:rPr>
              <a:t>But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many</a:t>
            </a:r>
            <a:r>
              <a:rPr sz="1500" spc="-10" dirty="0">
                <a:latin typeface="Times New Roman"/>
                <a:cs typeface="Times New Roman"/>
              </a:rPr>
              <a:t> low-</a:t>
            </a:r>
            <a:r>
              <a:rPr sz="1500" dirty="0">
                <a:latin typeface="Times New Roman"/>
                <a:cs typeface="Times New Roman"/>
              </a:rPr>
              <a:t>richness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cells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small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stable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climate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richness.</a:t>
            </a:r>
            <a:endParaRPr sz="1500">
              <a:latin typeface="Times New Roman"/>
              <a:cs typeface="Times New Roman"/>
            </a:endParaRPr>
          </a:p>
          <a:p>
            <a:pPr marL="173990" indent="-161290">
              <a:lnSpc>
                <a:spcPct val="100000"/>
              </a:lnSpc>
              <a:spcBef>
                <a:spcPts val="805"/>
              </a:spcBef>
              <a:buChar char="•"/>
              <a:tabLst>
                <a:tab pos="173990" algn="l"/>
              </a:tabLst>
            </a:pPr>
            <a:r>
              <a:rPr sz="1500" dirty="0">
                <a:latin typeface="Times New Roman"/>
                <a:cs typeface="Times New Roman"/>
              </a:rPr>
              <a:t>Cells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large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(over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°C)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low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richness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(below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about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140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species).</a:t>
            </a:r>
            <a:endParaRPr sz="1500">
              <a:latin typeface="Times New Roman"/>
              <a:cs typeface="Times New Roman"/>
            </a:endParaRPr>
          </a:p>
          <a:p>
            <a:pPr marL="173990" indent="-161290">
              <a:lnSpc>
                <a:spcPct val="100000"/>
              </a:lnSpc>
              <a:spcBef>
                <a:spcPts val="805"/>
              </a:spcBef>
              <a:buChar char="•"/>
              <a:tabLst>
                <a:tab pos="173990" algn="l"/>
              </a:tabLst>
            </a:pPr>
            <a:r>
              <a:rPr sz="1500" dirty="0">
                <a:latin typeface="Times New Roman"/>
                <a:cs typeface="Times New Roman"/>
              </a:rPr>
              <a:t>Both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datasets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show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same </a:t>
            </a:r>
            <a:r>
              <a:rPr sz="1500" spc="-10" dirty="0">
                <a:latin typeface="Times New Roman"/>
                <a:cs typeface="Times New Roman"/>
              </a:rPr>
              <a:t>shape.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Richness</a:t>
            </a:r>
            <a:r>
              <a:rPr sz="3000" spc="-45" dirty="0"/>
              <a:t> </a:t>
            </a:r>
            <a:r>
              <a:rPr sz="3000" dirty="0"/>
              <a:t>by</a:t>
            </a:r>
            <a:r>
              <a:rPr sz="3000" spc="-45" dirty="0"/>
              <a:t> </a:t>
            </a:r>
            <a:r>
              <a:rPr sz="3000" dirty="0"/>
              <a:t>Stability</a:t>
            </a:r>
            <a:r>
              <a:rPr sz="3000" spc="-10" dirty="0"/>
              <a:t> Quartile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7200" y="1365250"/>
          <a:ext cx="6219824" cy="2055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richness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7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stable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Q2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Q3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stable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PaleoClim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(mean)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78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54.0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7015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53.9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34.3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PaleoClim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(median)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541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(mean)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78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51.7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7015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57.4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54.8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34.7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WorldClim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(median)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541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980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90219" y="3485210"/>
            <a:ext cx="1590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545454"/>
                </a:solidFill>
                <a:latin typeface="Times New Roman"/>
                <a:cs typeface="Times New Roman"/>
              </a:rPr>
              <a:t>47</a:t>
            </a:r>
            <a:r>
              <a:rPr sz="1300" spc="-2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45454"/>
                </a:solidFill>
                <a:latin typeface="Times New Roman"/>
                <a:cs typeface="Times New Roman"/>
              </a:rPr>
              <a:t>cells</a:t>
            </a:r>
            <a:r>
              <a:rPr sz="13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45454"/>
                </a:solidFill>
                <a:latin typeface="Times New Roman"/>
                <a:cs typeface="Times New Roman"/>
              </a:rPr>
              <a:t>in</a:t>
            </a:r>
            <a:r>
              <a:rPr sz="1300" spc="-1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45454"/>
                </a:solidFill>
                <a:latin typeface="Times New Roman"/>
                <a:cs typeface="Times New Roman"/>
              </a:rPr>
              <a:t>each</a:t>
            </a:r>
            <a:r>
              <a:rPr sz="13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Times New Roman"/>
                <a:cs typeface="Times New Roman"/>
              </a:rPr>
              <a:t>quartile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83348" y="1380490"/>
            <a:ext cx="4933950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9209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least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quartile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lowest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richness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(about </a:t>
            </a:r>
            <a:r>
              <a:rPr sz="1600" dirty="0">
                <a:latin typeface="Times New Roman"/>
                <a:cs typeface="Times New Roman"/>
              </a:rPr>
              <a:t>34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52-57)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datasets.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three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quartiles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similar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-10" dirty="0">
                <a:latin typeface="Times New Roman"/>
                <a:cs typeface="Times New Roman"/>
              </a:rPr>
              <a:t> other.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Medians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close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quartiles,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pulled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up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few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rich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cells.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7" name="object 7" descr="int_quartile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840518"/>
            <a:ext cx="6583680" cy="28863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Hotspots:</a:t>
            </a:r>
            <a:r>
              <a:rPr sz="3000" spc="-20" dirty="0"/>
              <a:t> </a:t>
            </a:r>
            <a:r>
              <a:rPr sz="3000" dirty="0"/>
              <a:t>Rich</a:t>
            </a:r>
            <a:r>
              <a:rPr sz="3000" spc="-35" dirty="0"/>
              <a:t> </a:t>
            </a:r>
            <a:r>
              <a:rPr sz="3000" dirty="0"/>
              <a:t>and</a:t>
            </a:r>
            <a:r>
              <a:rPr sz="3000" spc="-25" dirty="0"/>
              <a:t> </a:t>
            </a:r>
            <a:r>
              <a:rPr sz="3000" dirty="0"/>
              <a:t>Stable</a:t>
            </a:r>
            <a:r>
              <a:rPr sz="3000" spc="-20" dirty="0"/>
              <a:t> </a:t>
            </a:r>
            <a:r>
              <a:rPr sz="3000" dirty="0"/>
              <a:t>vs</a:t>
            </a:r>
            <a:r>
              <a:rPr sz="3000" spc="-15" dirty="0"/>
              <a:t> </a:t>
            </a:r>
            <a:r>
              <a:rPr sz="3000" dirty="0"/>
              <a:t>Rich</a:t>
            </a:r>
            <a:r>
              <a:rPr sz="3000" spc="-20" dirty="0"/>
              <a:t> </a:t>
            </a:r>
            <a:r>
              <a:rPr sz="3000" dirty="0"/>
              <a:t>but</a:t>
            </a:r>
            <a:r>
              <a:rPr sz="3000" spc="-25" dirty="0"/>
              <a:t> </a:t>
            </a:r>
            <a:r>
              <a:rPr sz="3000" dirty="0"/>
              <a:t>Not</a:t>
            </a:r>
            <a:r>
              <a:rPr sz="3000" spc="-20" dirty="0"/>
              <a:t> </a:t>
            </a:r>
            <a:r>
              <a:rPr sz="3000" spc="-10" dirty="0"/>
              <a:t>Stable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int_hotspot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80160"/>
            <a:ext cx="7132320" cy="387489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680959" y="2112517"/>
          <a:ext cx="411416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Group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most-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stable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quartile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(top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25%)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47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92276" y="5167782"/>
            <a:ext cx="9131935" cy="130420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63195" indent="-150495">
              <a:lnSpc>
                <a:spcPct val="100000"/>
              </a:lnSpc>
              <a:spcBef>
                <a:spcPts val="890"/>
              </a:spcBef>
              <a:buChar char="•"/>
              <a:tabLst>
                <a:tab pos="163195" algn="l"/>
              </a:tabLst>
            </a:pPr>
            <a:r>
              <a:rPr sz="1600" dirty="0">
                <a:latin typeface="Times New Roman"/>
                <a:cs typeface="Times New Roman"/>
              </a:rPr>
              <a:t>Rich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mostly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southern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hemisphere: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South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Africa,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southern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South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America,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Australia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10" dirty="0">
                <a:latin typeface="Times New Roman"/>
                <a:cs typeface="Times New Roman"/>
              </a:rPr>
              <a:t> Zealand.</a:t>
            </a:r>
            <a:endParaRPr sz="160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790"/>
              </a:spcBef>
              <a:buChar char="•"/>
              <a:tabLst>
                <a:tab pos="160020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quartile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25%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15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47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(32%)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slightly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chance.</a:t>
            </a:r>
            <a:endParaRPr sz="1600" dirty="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805"/>
              </a:spcBef>
              <a:buChar char="•"/>
              <a:tabLst>
                <a:tab pos="163195" algn="l"/>
              </a:tabLst>
            </a:pPr>
            <a:r>
              <a:rPr sz="1600" dirty="0">
                <a:latin typeface="Times New Roman"/>
                <a:cs typeface="Times New Roman"/>
              </a:rPr>
              <a:t>Rich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restricted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areas.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Robustness</a:t>
            </a:r>
            <a:r>
              <a:rPr sz="3000" spc="-50" dirty="0"/>
              <a:t> </a:t>
            </a:r>
            <a:r>
              <a:rPr sz="3000" dirty="0"/>
              <a:t>Check:</a:t>
            </a:r>
            <a:r>
              <a:rPr sz="3000" spc="-20" dirty="0"/>
              <a:t> </a:t>
            </a:r>
            <a:r>
              <a:rPr sz="3000" dirty="0"/>
              <a:t>2°</a:t>
            </a:r>
            <a:r>
              <a:rPr sz="3000" spc="-15" dirty="0"/>
              <a:t> </a:t>
            </a:r>
            <a:r>
              <a:rPr sz="3000" dirty="0"/>
              <a:t>vs</a:t>
            </a:r>
            <a:r>
              <a:rPr sz="3000" spc="-5" dirty="0"/>
              <a:t> </a:t>
            </a:r>
            <a:r>
              <a:rPr sz="3000" dirty="0"/>
              <a:t>5°</a:t>
            </a:r>
            <a:r>
              <a:rPr sz="3000" spc="-15" dirty="0"/>
              <a:t> </a:t>
            </a:r>
            <a:r>
              <a:rPr sz="3000" spc="-20" dirty="0"/>
              <a:t>Grid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0080" y="1365250"/>
          <a:ext cx="10790554" cy="3517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024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2°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grid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5°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grid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merge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8975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889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analysed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89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264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rho,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PaleoClim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961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0.209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(p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0.001)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0.207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(p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0.004)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rho,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WorldClim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LGM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89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0.176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(p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0.004)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0.114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(p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0.120)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agreement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rho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770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0.718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0.75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stable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rich +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stable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770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17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3100" y="5028245"/>
            <a:ext cx="7806055" cy="10617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894"/>
              </a:spcBef>
              <a:buChar char="•"/>
              <a:tabLst>
                <a:tab pos="18097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PaleoClim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almost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identical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grid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robust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cell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size.</a:t>
            </a:r>
            <a:endParaRPr sz="1600" dirty="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spcBef>
                <a:spcPts val="795"/>
              </a:spcBef>
              <a:buChar char="•"/>
              <a:tabLst>
                <a:tab pos="18097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WorldClim</a:t>
            </a:r>
            <a:r>
              <a:rPr sz="1600" dirty="0">
                <a:latin typeface="Times New Roman"/>
                <a:cs typeface="Times New Roman"/>
              </a:rPr>
              <a:t> result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weakens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loses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significance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5°.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sample.</a:t>
            </a:r>
            <a:endParaRPr sz="1600" dirty="0">
              <a:latin typeface="Times New Roman"/>
              <a:cs typeface="Times New Roman"/>
            </a:endParaRPr>
          </a:p>
          <a:p>
            <a:pPr marL="180975" indent="-168275">
              <a:lnSpc>
                <a:spcPct val="100000"/>
              </a:lnSpc>
              <a:spcBef>
                <a:spcPts val="805"/>
              </a:spcBef>
              <a:buChar char="•"/>
              <a:tabLst>
                <a:tab pos="18097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(negative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rho)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every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case.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Fastovich et al. (2024)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Paper title"/>
          <p:cNvSpPr txBox="1"/>
          <p:nvPr/>
        </p:nvSpPr>
        <p:spPr>
          <a:xfrm>
            <a:off x="640080" y="1200000"/>
            <a:ext cx="1095756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Legacies of millennial-scale climate oscillations in contemporary biodiversity in eastern North America</a:t>
            </a:r>
          </a:p>
        </p:txBody>
      </p:sp>
      <p:sp>
        <p:nvSpPr>
          <p:cNvPr id="5" name="Paper link"/>
          <p:cNvSpPr txBox="1"/>
          <p:nvPr/>
        </p:nvSpPr>
        <p:spPr>
          <a:xfrm>
            <a:off x="581659" y="2043236"/>
            <a:ext cx="109575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2000" dirty="0">
                <a:latin typeface="Times New Roman"/>
                <a:cs typeface="Times New Roman"/>
              </a:rPr>
              <a:t>Research paper link: </a:t>
            </a:r>
            <a:r>
              <a:rPr lang="en-US" sz="2000" u="sng" dirty="0">
                <a:latin typeface="Times New Roman"/>
                <a:cs typeface="Times New Roman"/>
                <a:hlinkClick r:id="rId2"/>
              </a:rPr>
              <a:t>https://pmc.ncbi.nlm.nih.gov/articles/PMC10999273/</a:t>
            </a:r>
          </a:p>
        </p:txBody>
      </p:sp>
      <p:sp>
        <p:nvSpPr>
          <p:cNvPr id="6" name="What the paper suggested"/>
          <p:cNvSpPr txBox="1"/>
          <p:nvPr/>
        </p:nvSpPr>
        <p:spPr>
          <a:xfrm>
            <a:off x="581659" y="2483652"/>
            <a:ext cx="1095756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What this paper suggested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Tested 13 palaeoclimate estimates (simulations and proxy reconstructions) against modern richness of amphibians, birds, mammals, reptiles and trees.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For some taxa the strength and direction of the relationship changed between estimates, so results should not rest on a single palaeoclimate source.</a:t>
            </a:r>
          </a:p>
        </p:txBody>
      </p:sp>
      <p:sp>
        <p:nvSpPr>
          <p:cNvPr id="7" name="What we did"/>
          <p:cNvSpPr txBox="1"/>
          <p:nvPr/>
        </p:nvSpPr>
        <p:spPr>
          <a:xfrm>
            <a:off x="640080" y="4400000"/>
            <a:ext cx="10957560" cy="180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The reason behind our approach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used two palaeoclimate sources (PaleoClim and WorldClim) instead of one.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checked that they agree on which cells are stable (rho = 0.75) and reported results separately for each dataset.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 result did differ by source: significant in PaleoClim, not significant in WorldClim.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Rakotoarinivo et al. (2013)</a:t>
            </a:r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Paper title"/>
          <p:cNvSpPr txBox="1"/>
          <p:nvPr/>
        </p:nvSpPr>
        <p:spPr>
          <a:xfrm>
            <a:off x="640080" y="1200000"/>
            <a:ext cx="109575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Palaeo-precipitation is a major determinant of palm species richness patterns across Madagascar</a:t>
            </a:r>
          </a:p>
        </p:txBody>
      </p:sp>
      <p:sp>
        <p:nvSpPr>
          <p:cNvPr id="5" name="Paper link"/>
          <p:cNvSpPr txBox="1"/>
          <p:nvPr/>
        </p:nvSpPr>
        <p:spPr>
          <a:xfrm>
            <a:off x="533400" y="1656216"/>
            <a:ext cx="110642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2000" dirty="0">
                <a:latin typeface="Times New Roman"/>
                <a:cs typeface="Times New Roman"/>
              </a:rPr>
              <a:t>  Research paper link: </a:t>
            </a:r>
            <a:r>
              <a:rPr lang="en-US" sz="2000" u="sng" dirty="0">
                <a:latin typeface="Times New Roman"/>
                <a:cs typeface="Times New Roman"/>
                <a:hlinkClick r:id="rId2"/>
              </a:rPr>
              <a:t>https://pmc.ncbi.nlm.nih.gov/articles/PMC3619483/ </a:t>
            </a:r>
          </a:p>
        </p:txBody>
      </p:sp>
      <p:sp>
        <p:nvSpPr>
          <p:cNvPr id="6" name="What the paper suggested"/>
          <p:cNvSpPr txBox="1"/>
          <p:nvPr/>
        </p:nvSpPr>
        <p:spPr>
          <a:xfrm>
            <a:off x="640080" y="2250000"/>
            <a:ext cx="10957559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What this paper suggested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Used LGM climate reconstructions to explain palm richness in Madagascar, and found a palaeoclimate signal even after controlling for modern environment.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Estimates differed between reconstructions (MIROC3.2 gave a weaker, negative effect than CCSM3), and precipitation mattered more than temperature.</a:t>
            </a:r>
          </a:p>
        </p:txBody>
      </p:sp>
      <p:sp>
        <p:nvSpPr>
          <p:cNvPr id="7" name="What we did"/>
          <p:cNvSpPr txBox="1"/>
          <p:nvPr/>
        </p:nvSpPr>
        <p:spPr>
          <a:xfrm>
            <a:off x="594359" y="4259556"/>
            <a:ext cx="11003281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The reason behind our approach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measured stability as change between the LGM and present, and controlled for sampling effort and latitude before testing it.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noted that our WorldClim past climate comes from a single model (CCSM4), so model bias is possible.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Precipitation is listed as future work, because this paper shows it can matter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Xu et al. (2019)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Paper title"/>
          <p:cNvSpPr txBox="1"/>
          <p:nvPr/>
        </p:nvSpPr>
        <p:spPr>
          <a:xfrm>
            <a:off x="581659" y="1376818"/>
            <a:ext cx="1095756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Palaeoclimate and woody plant diversity in China (LGM-to-present anomalies)</a:t>
            </a:r>
          </a:p>
        </p:txBody>
      </p:sp>
      <p:sp>
        <p:nvSpPr>
          <p:cNvPr id="5" name="Paper link"/>
          <p:cNvSpPr txBox="1"/>
          <p:nvPr/>
        </p:nvSpPr>
        <p:spPr>
          <a:xfrm>
            <a:off x="581659" y="2071407"/>
            <a:ext cx="109575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2000" dirty="0">
                <a:latin typeface="Times New Roman"/>
                <a:cs typeface="Times New Roman"/>
              </a:rPr>
              <a:t>Research paper link: </a:t>
            </a:r>
            <a:r>
              <a:rPr lang="en-US" sz="2000" u="sng" dirty="0">
                <a:latin typeface="Times New Roman"/>
                <a:cs typeface="Times New Roman"/>
                <a:hlinkClick r:id="rId2"/>
              </a:rPr>
              <a:t>https://link.springer.com/article/10.1007/s11442-019-1650-x</a:t>
            </a:r>
          </a:p>
        </p:txBody>
      </p:sp>
      <p:sp>
        <p:nvSpPr>
          <p:cNvPr id="6" name="What the paper suggested"/>
          <p:cNvSpPr txBox="1"/>
          <p:nvPr/>
        </p:nvSpPr>
        <p:spPr>
          <a:xfrm>
            <a:off x="588008" y="2793833"/>
            <a:ext cx="11015981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What this paper suggested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Palaeoclimate explained only about 1.1% of woody plant richness in China.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Its effect largely overlapped with current climate, but it was more influential for phylogenetic structure.</a:t>
            </a:r>
          </a:p>
        </p:txBody>
      </p:sp>
      <p:sp>
        <p:nvSpPr>
          <p:cNvPr id="7" name="What we did"/>
          <p:cNvSpPr txBox="1"/>
          <p:nvPr/>
        </p:nvSpPr>
        <p:spPr>
          <a:xfrm>
            <a:off x="655320" y="4419600"/>
            <a:ext cx="10957560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The reason behind our approach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Because modern climate and history overlap, we controlled for |latitude| and sampling effort.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expected only a weak link, and found one: partial rho about -0.21 in PaleoClim.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Single taxonomic groups and other diversity measures are listed as future 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Scheiter et al. (2026)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Paper title"/>
          <p:cNvSpPr txBox="1"/>
          <p:nvPr/>
        </p:nvSpPr>
        <p:spPr>
          <a:xfrm>
            <a:off x="640080" y="1200000"/>
            <a:ext cx="1095756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The Effects of Biome Stability During the Quaternary on Plant Diversity</a:t>
            </a:r>
          </a:p>
        </p:txBody>
      </p:sp>
      <p:sp>
        <p:nvSpPr>
          <p:cNvPr id="5" name="Paper link"/>
          <p:cNvSpPr txBox="1"/>
          <p:nvPr/>
        </p:nvSpPr>
        <p:spPr>
          <a:xfrm>
            <a:off x="640080" y="1850000"/>
            <a:ext cx="109575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2000" dirty="0">
                <a:latin typeface="Times New Roman"/>
                <a:cs typeface="Times New Roman"/>
              </a:rPr>
              <a:t>Research paper link: </a:t>
            </a:r>
            <a:r>
              <a:rPr lang="en-US" sz="2000" u="sng" dirty="0">
                <a:latin typeface="Times New Roman"/>
                <a:cs typeface="Times New Roman"/>
                <a:hlinkClick r:id="rId2"/>
              </a:rPr>
              <a:t>https://onlinelibrary.wiley.com/doi/abs/10.1002/ece3.73884</a:t>
            </a:r>
          </a:p>
        </p:txBody>
      </p:sp>
      <p:sp>
        <p:nvSpPr>
          <p:cNvPr id="6" name="What the paper suggested"/>
          <p:cNvSpPr txBox="1"/>
          <p:nvPr/>
        </p:nvSpPr>
        <p:spPr>
          <a:xfrm>
            <a:off x="640079" y="2561858"/>
            <a:ext cx="10957560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What this paper suggested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Modelled biome stability across 2,605 time slices over the last 2.6 million years.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Stability matched richness in tropical rainforests, but globally the overlap between stable biomes and richness hotspots was weak.</a:t>
            </a:r>
          </a:p>
        </p:txBody>
      </p:sp>
      <p:sp>
        <p:nvSpPr>
          <p:cNvPr id="7" name="What we did"/>
          <p:cNvSpPr txBox="1"/>
          <p:nvPr/>
        </p:nvSpPr>
        <p:spPr>
          <a:xfrm>
            <a:off x="640080" y="4400000"/>
            <a:ext cx="10957560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The reason behind our approach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compared rich and stable cells (15) with rich but not stable cells (32).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From this paper, we found hotspots are not limited to stable areas.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Our conclusion is also similar: support for the stability hypothesis is weak.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Magneville et al. (2025)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05156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Paper title"/>
          <p:cNvSpPr txBox="1"/>
          <p:nvPr/>
        </p:nvSpPr>
        <p:spPr>
          <a:xfrm>
            <a:off x="640080" y="1200000"/>
            <a:ext cx="1095756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Echoes of the Past: Long-Term Climate Stability Shapes Functional and Phylogenetic Diversity in Euro-Mediterranean Forests</a:t>
            </a:r>
          </a:p>
        </p:txBody>
      </p:sp>
      <p:sp>
        <p:nvSpPr>
          <p:cNvPr id="5" name="Paper link"/>
          <p:cNvSpPr txBox="1"/>
          <p:nvPr/>
        </p:nvSpPr>
        <p:spPr>
          <a:xfrm>
            <a:off x="658368" y="2112193"/>
            <a:ext cx="109575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2000" dirty="0">
                <a:latin typeface="Times New Roman"/>
                <a:cs typeface="Times New Roman"/>
              </a:rPr>
              <a:t>Research paper link: </a:t>
            </a:r>
            <a:r>
              <a:rPr lang="en-US" sz="2000" u="sng" dirty="0">
                <a:latin typeface="Times New Roman"/>
                <a:cs typeface="Times New Roman"/>
                <a:hlinkClick r:id="rId2"/>
              </a:rPr>
              <a:t>https://onlinelibrary.wiley.com/doi/abs/10.1111/geb.70177</a:t>
            </a:r>
          </a:p>
        </p:txBody>
      </p:sp>
      <p:sp>
        <p:nvSpPr>
          <p:cNvPr id="6" name="What the paper suggested"/>
          <p:cNvSpPr txBox="1"/>
          <p:nvPr/>
        </p:nvSpPr>
        <p:spPr>
          <a:xfrm>
            <a:off x="581659" y="2875002"/>
            <a:ext cx="1095756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What this paper suggested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Found past temperature stability to be the main driver of diversity across five taxonomic groups.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Past climate stability was assessed alongside present climate, habitat, disturbance and land use.</a:t>
            </a:r>
          </a:p>
        </p:txBody>
      </p:sp>
      <p:sp>
        <p:nvSpPr>
          <p:cNvPr id="7" name="What we did"/>
          <p:cNvSpPr txBox="1"/>
          <p:nvPr/>
        </p:nvSpPr>
        <p:spPr>
          <a:xfrm>
            <a:off x="609599" y="4410598"/>
            <a:ext cx="10957560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The reason behind our approach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used temperature (BIO1) and LGM-to-present change as our stability measure.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We found the least stable (glaciated) cells have the lowest richness, matching a stability effect.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Using single taxa and other drivers is listed as future work.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871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Key</a:t>
            </a:r>
            <a:r>
              <a:rPr sz="3000" spc="-50" dirty="0"/>
              <a:t> </a:t>
            </a:r>
            <a:r>
              <a:rPr sz="3000" spc="-10" dirty="0"/>
              <a:t>Observations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366138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686676"/>
            <a:ext cx="10842625" cy="40919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climatic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(rho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0).</a:t>
            </a:r>
            <a:endParaRPr sz="2000" dirty="0">
              <a:latin typeface="Times New Roman"/>
              <a:cs typeface="Times New Roman"/>
            </a:endParaRPr>
          </a:p>
          <a:p>
            <a:pPr marL="354965" marR="19812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55600" algn="l"/>
                <a:tab pos="404495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controlling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latitude,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PaleoClim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weak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25" dirty="0">
                <a:latin typeface="Times New Roman"/>
                <a:cs typeface="Times New Roman"/>
              </a:rPr>
              <a:t> are </a:t>
            </a:r>
            <a:r>
              <a:rPr sz="2000" dirty="0">
                <a:latin typeface="Times New Roman"/>
                <a:cs typeface="Times New Roman"/>
              </a:rPr>
              <a:t>slightly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(partial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rho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-0.21).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WorldClim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 direction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significant.</a:t>
            </a:r>
            <a:endParaRPr sz="2000" dirty="0">
              <a:latin typeface="Times New Roman"/>
              <a:cs typeface="Times New Roman"/>
            </a:endParaRPr>
          </a:p>
          <a:p>
            <a:pPr marL="354965" marR="722630" indent="-342900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355600" algn="l"/>
                <a:tab pos="414655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clearest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bottom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(glaciated,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high-latitude)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lowest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richness.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10"/>
              </a:spcBef>
              <a:buFont typeface="Arial" panose="020B0604020202020204" pitchFamily="34" charset="0"/>
              <a:buChar char="•"/>
              <a:tabLst>
                <a:tab pos="404495" algn="l"/>
              </a:tabLst>
            </a:pP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richness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419734" algn="l"/>
              </a:tabLst>
            </a:pPr>
            <a:r>
              <a:rPr sz="2000" dirty="0">
                <a:latin typeface="Times New Roman"/>
                <a:cs typeface="Times New Roman"/>
              </a:rPr>
              <a:t>PaleoClim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WorldClim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agree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(rho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0.75).</a:t>
            </a:r>
            <a:endParaRPr sz="2000" dirty="0">
              <a:latin typeface="Times New Roman"/>
              <a:cs typeface="Times New Roman"/>
            </a:endParaRPr>
          </a:p>
          <a:p>
            <a:pPr marL="354965" marR="666115" indent="-34290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355600" algn="l"/>
                <a:tab pos="419734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15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quartile,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hotspots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climates.</a:t>
            </a:r>
            <a:endParaRPr sz="20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55600" algn="l"/>
                <a:tab pos="419734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Richness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effort: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sampled,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South Africa.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18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94359" y="1592325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466213"/>
            <a:ext cx="1082357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419734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GBIF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sample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uneven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effort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regions,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richness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artefact.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All </a:t>
            </a:r>
            <a:r>
              <a:rPr sz="2000" dirty="0">
                <a:latin typeface="Times New Roman"/>
                <a:cs typeface="Times New Roman"/>
              </a:rPr>
              <a:t>taxonomic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mixed.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sz="2000" spc="-10" dirty="0">
                <a:latin typeface="Times New Roman"/>
                <a:cs typeface="Times New Roman"/>
              </a:rPr>
              <a:t>Temperature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(BIO1).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Precipitation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yet.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estimated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slices.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sz="2000" spc="-10" dirty="0">
                <a:latin typeface="Times New Roman"/>
                <a:cs typeface="Times New Roman"/>
              </a:rPr>
              <a:t>WorldClim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palaeoclimate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(CCSM4),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bias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possible.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sz="2000" dirty="0">
                <a:latin typeface="Times New Roman"/>
                <a:cs typeface="Times New Roman"/>
              </a:rPr>
              <a:t>5°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average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climate gradients,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refugia.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188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cells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5°,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2°.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47752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cause.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886459"/>
            <a:ext cx="10582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Work Done So Far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480948" y="1616710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2453767"/>
            <a:ext cx="1053782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Climatic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stability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weakly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modern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richness.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raw </a:t>
            </a:r>
            <a:r>
              <a:rPr sz="2200" dirty="0">
                <a:latin typeface="Times New Roman"/>
                <a:cs typeface="Times New Roman"/>
              </a:rPr>
              <a:t>relationship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(ρ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≈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0),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after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controlling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sampling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latitude,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slightly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PaleoClim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(partial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ρ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≈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−0.21,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0.004),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spc="-20" dirty="0">
                <a:latin typeface="Times New Roman"/>
                <a:cs typeface="Times New Roman"/>
              </a:rPr>
              <a:t>WorldClim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significant.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stable,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glaciated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lowest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yet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species-</a:t>
            </a:r>
            <a:r>
              <a:rPr sz="2200" dirty="0">
                <a:latin typeface="Times New Roman"/>
                <a:cs typeface="Times New Roman"/>
              </a:rPr>
              <a:t>poor,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stability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seems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it. </a:t>
            </a:r>
            <a:r>
              <a:rPr sz="2200" dirty="0">
                <a:latin typeface="Times New Roman"/>
                <a:cs typeface="Times New Roman"/>
              </a:rPr>
              <a:t>Overall,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hypothesis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weak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dataset-dependent.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5324" y="808431"/>
            <a:ext cx="39846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Future</a:t>
            </a:r>
            <a:r>
              <a:rPr sz="3000" spc="-70" dirty="0"/>
              <a:t> </a:t>
            </a:r>
            <a:r>
              <a:rPr sz="3000" spc="-10" dirty="0"/>
              <a:t>Implementations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94359" y="1523491"/>
            <a:ext cx="11003280" cy="0"/>
          </a:xfrm>
          <a:custGeom>
            <a:avLst/>
            <a:gdLst/>
            <a:ahLst/>
            <a:cxnLst/>
            <a:rect l="l" t="t" r="r" b="b"/>
            <a:pathLst>
              <a:path w="11003280">
                <a:moveTo>
                  <a:pt x="0" y="0"/>
                </a:moveTo>
                <a:lnTo>
                  <a:pt x="11003026" y="0"/>
                </a:lnTo>
              </a:path>
            </a:pathLst>
          </a:custGeom>
          <a:ln w="9525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5863" y="2271775"/>
            <a:ext cx="9541510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Integrate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IUCN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range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maps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range-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affected</a:t>
            </a:r>
            <a:r>
              <a:rPr sz="2200" spc="-25" dirty="0">
                <a:latin typeface="Times New Roman"/>
                <a:cs typeface="Times New Roman"/>
              </a:rPr>
              <a:t> by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sampling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effort.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Copernicus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elevation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refugia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proxy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variable.</a:t>
            </a:r>
            <a:endParaRPr sz="2200" dirty="0">
              <a:latin typeface="Times New Roman"/>
              <a:cs typeface="Times New Roman"/>
            </a:endParaRPr>
          </a:p>
          <a:p>
            <a:pPr marL="355600" marR="30924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Expand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climate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metrics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precipitation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variability,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temperature alone.</a:t>
            </a:r>
            <a:endParaRPr sz="2200" dirty="0">
              <a:latin typeface="Times New Roman"/>
              <a:cs typeface="Times New Roman"/>
            </a:endParaRPr>
          </a:p>
          <a:p>
            <a:pPr marL="355600" marR="62293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GBIF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download,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rarefied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richness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single </a:t>
            </a:r>
            <a:r>
              <a:rPr sz="2200" dirty="0">
                <a:latin typeface="Times New Roman"/>
                <a:cs typeface="Times New Roman"/>
              </a:rPr>
              <a:t>taxonomic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groups.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Apply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spatial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regression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account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spatial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autocorrelation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test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reliably.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3319</Words>
  <Application>Microsoft Office PowerPoint</Application>
  <PresentationFormat>Widescreen</PresentationFormat>
  <Paragraphs>505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Palaeoclimate Stability and Modern Biodiversity</vt:lpstr>
      <vt:lpstr>Problem Statement</vt:lpstr>
      <vt:lpstr>Objectives</vt:lpstr>
      <vt:lpstr>Data Given</vt:lpstr>
      <vt:lpstr>Data: GBIF Records and Cleaning</vt:lpstr>
      <vt:lpstr>Methodology</vt:lpstr>
      <vt:lpstr>Methodology: How Stability Is Measured</vt:lpstr>
      <vt:lpstr>Results: GBIF Species Richness</vt:lpstr>
      <vt:lpstr>Results: Richest Cells and Sampling Effort</vt:lpstr>
      <vt:lpstr>Results: PaleoClim BIO1 at Three Time Slices</vt:lpstr>
      <vt:lpstr>Results: PaleoClim Stability</vt:lpstr>
      <vt:lpstr>Results: WorldClim BIO1 at Three Time Slices</vt:lpstr>
      <vt:lpstr>Results: WorldClim Stability</vt:lpstr>
      <vt:lpstr>PaleoClim vs WorldClim: Do the Two Sources Agree?</vt:lpstr>
      <vt:lpstr>Integration: Cells Used in the Analysis</vt:lpstr>
      <vt:lpstr>Results: Richness vs Climatic Stability</vt:lpstr>
      <vt:lpstr>Richness vs LGM Temperature Change</vt:lpstr>
      <vt:lpstr>Richness by Stability Quartile</vt:lpstr>
      <vt:lpstr>Hotspots: Rich and Stable vs Rich but Not Stable</vt:lpstr>
      <vt:lpstr>Robustness Check: 2° vs 5° Grid</vt:lpstr>
      <vt:lpstr>Fastovich et al. (2024)</vt:lpstr>
      <vt:lpstr>Rakotoarinivo et al. (2013)</vt:lpstr>
      <vt:lpstr>Xu et al. (2019)</vt:lpstr>
      <vt:lpstr>Scheiter et al. (2026)</vt:lpstr>
      <vt:lpstr>Magneville et al. (2025)</vt:lpstr>
      <vt:lpstr>Key Observations</vt:lpstr>
      <vt:lpstr>Limitations</vt:lpstr>
      <vt:lpstr>Work Done So Far</vt:lpstr>
      <vt:lpstr>Future Implementations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charishma g</dc:creator>
  <cp:lastModifiedBy>charishma g</cp:lastModifiedBy>
  <cp:revision>1</cp:revision>
  <dcterms:created xsi:type="dcterms:W3CDTF">2026-10-10T17:23:44Z</dcterms:created>
  <dcterms:modified xsi:type="dcterms:W3CDTF">2026-10-10T19:01:34Z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2026-10-10T00:00:00Z</vt:filetime>
  </property>
  <property fmtid="{D5CDD505-2E9C-101B-9397-08002B2CF9AE}" pid="5" name="Producer">
    <vt:lpwstr>Microsoft® PowerPoint® 2021</vt:lpwstr>
  </property>
</Properties>
</file>